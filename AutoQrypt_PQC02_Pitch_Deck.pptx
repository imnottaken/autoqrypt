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top_rail"/>
          <p:cNvSpPr/>
          <p:nvPr/>
        </p:nvSpPr>
        <p:spPr>
          <a:xfrm>
            <a:off x="731520" y="502920"/>
            <a:ext cx="10728655" cy="27432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top_progress"/>
          <p:cNvSpPr/>
          <p:nvPr/>
        </p:nvSpPr>
        <p:spPr>
          <a:xfrm>
            <a:off x="731520" y="502920"/>
            <a:ext cx="137160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sec_tag"/>
          <p:cNvSpPr/>
          <p:nvPr/>
        </p:nvSpPr>
        <p:spPr>
          <a:xfrm>
            <a:off x="731520" y="1051560"/>
            <a:ext cx="4023360" cy="347472"/>
          </a:xfrm>
          <a:prstGeom prst="roundRect">
            <a:avLst>
              <a:gd name="adj" fmla="val 4000"/>
            </a:avLst>
          </a:prstGeom>
          <a:solidFill>
            <a:srgbClr val="18181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15568"/>
            <a:ext cx="3749039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950" b="1">
                <a:solidFill>
                  <a:srgbClr val="38BDF8"/>
                </a:solidFill>
                <a:latin typeface="Courier New"/>
              </a:rPr>
              <a:t>PROBLEM STATEMENT PQC-02 · AUTOMOTIVE HIL</a:t>
            </a:r>
          </a:p>
        </p:txBody>
      </p:sp>
      <p:sp>
        <p:nvSpPr>
          <p:cNvPr id="6" name="!!sec_title"/>
          <p:cNvSpPr txBox="1"/>
          <p:nvPr/>
        </p:nvSpPr>
        <p:spPr>
          <a:xfrm>
            <a:off x="731520" y="1600200"/>
            <a:ext cx="6949440" cy="17373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4600" b="1">
                <a:solidFill>
                  <a:srgbClr val="FAFAFA"/>
                </a:solidFill>
                <a:latin typeface="Arial"/>
              </a:rPr>
              <a:t>Post-Quantum OTA
Security for Vehicles.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29000"/>
            <a:ext cx="6217920" cy="10058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500" b="0">
                <a:solidFill>
                  <a:srgbClr val="A1A1AA"/>
                </a:solidFill>
                <a:latin typeface="Arial"/>
              </a:rPr>
              <a:t>Dual-role cryptographic firmware authentication (NIST FIPS 204 ML-DSA-44 + Ed25519 + Falcon-512) and hardware NVS anti-rollback running in 71.4 ms on bare-metal ESP32 silicon.</a:t>
            </a:r>
          </a:p>
        </p:txBody>
      </p:sp>
      <p:sp>
        <p:nvSpPr>
          <p:cNvPr id="8" name="!!card_m_mldsa"/>
          <p:cNvSpPr/>
          <p:nvPr/>
        </p:nvSpPr>
        <p:spPr>
          <a:xfrm>
            <a:off x="731520" y="4800600"/>
            <a:ext cx="2148840" cy="1325880"/>
          </a:xfrm>
          <a:prstGeom prst="roundRect">
            <a:avLst>
              <a:gd name="adj" fmla="val 4000"/>
            </a:avLst>
          </a:prstGeom>
          <a:solidFill>
            <a:srgbClr val="121216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val_m_mldsa"/>
          <p:cNvSpPr txBox="1"/>
          <p:nvPr/>
        </p:nvSpPr>
        <p:spPr>
          <a:xfrm>
            <a:off x="914400" y="4937760"/>
            <a:ext cx="18288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400" b="1">
                <a:solidFill>
                  <a:srgbClr val="FAFAFA"/>
                </a:solidFill>
                <a:latin typeface="Courier New"/>
              </a:rPr>
              <a:t>17.7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40680"/>
            <a:ext cx="18288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100" b="1">
                <a:solidFill>
                  <a:srgbClr val="FAFAFA"/>
                </a:solidFill>
                <a:latin typeface="Arial"/>
              </a:rPr>
              <a:t>ML-DSA-44 Verify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15000"/>
            <a:ext cx="18288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ourier New"/>
              </a:rPr>
              <a:t>4,248,000 cycles @ 240 MHz</a:t>
            </a:r>
          </a:p>
        </p:txBody>
      </p:sp>
      <p:sp>
        <p:nvSpPr>
          <p:cNvPr id="12" name="!!card_m_falcon"/>
          <p:cNvSpPr/>
          <p:nvPr/>
        </p:nvSpPr>
        <p:spPr>
          <a:xfrm>
            <a:off x="3063239" y="4800600"/>
            <a:ext cx="2148840" cy="1325880"/>
          </a:xfrm>
          <a:prstGeom prst="roundRect">
            <a:avLst>
              <a:gd name="adj" fmla="val 4000"/>
            </a:avLst>
          </a:prstGeom>
          <a:solidFill>
            <a:srgbClr val="121216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val_m_falcon"/>
          <p:cNvSpPr txBox="1"/>
          <p:nvPr/>
        </p:nvSpPr>
        <p:spPr>
          <a:xfrm>
            <a:off x="3246120" y="4937760"/>
            <a:ext cx="18288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400" b="1">
                <a:solidFill>
                  <a:srgbClr val="38BDF8"/>
                </a:solidFill>
                <a:latin typeface="Courier New"/>
              </a:rPr>
              <a:t>666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5440680"/>
            <a:ext cx="18288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100" b="1">
                <a:solidFill>
                  <a:srgbClr val="FAFAFA"/>
                </a:solidFill>
                <a:latin typeface="Arial"/>
              </a:rPr>
              <a:t>Falcon-512 Director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5715000"/>
            <a:ext cx="18288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ourier New"/>
              </a:rPr>
              <a:t>Fits in 11 CAN-FD 64B frames</a:t>
            </a:r>
          </a:p>
        </p:txBody>
      </p:sp>
      <p:sp>
        <p:nvSpPr>
          <p:cNvPr id="16" name="!!card_m_stack"/>
          <p:cNvSpPr/>
          <p:nvPr/>
        </p:nvSpPr>
        <p:spPr>
          <a:xfrm>
            <a:off x="5394959" y="4800600"/>
            <a:ext cx="2148840" cy="1325880"/>
          </a:xfrm>
          <a:prstGeom prst="roundRect">
            <a:avLst>
              <a:gd name="adj" fmla="val 4000"/>
            </a:avLst>
          </a:prstGeom>
          <a:solidFill>
            <a:srgbClr val="121216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val_m_stack"/>
          <p:cNvSpPr txBox="1"/>
          <p:nvPr/>
        </p:nvSpPr>
        <p:spPr>
          <a:xfrm>
            <a:off x="5577840" y="4937760"/>
            <a:ext cx="18288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400" b="1">
                <a:solidFill>
                  <a:srgbClr val="10B981"/>
                </a:solidFill>
                <a:latin typeface="Courier New"/>
              </a:rPr>
              <a:t>36.5 KB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5440680"/>
            <a:ext cx="18288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100" b="1">
                <a:solidFill>
                  <a:srgbClr val="FAFAFA"/>
                </a:solidFill>
                <a:latin typeface="Arial"/>
              </a:rPr>
              <a:t>Peak Task Stack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5715000"/>
            <a:ext cx="18288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ourier New"/>
              </a:rPr>
              <a:t>6.85% of 520 KB SRAM budget</a:t>
            </a:r>
          </a:p>
        </p:txBody>
      </p:sp>
      <p:sp>
        <p:nvSpPr>
          <p:cNvPr id="20" name="!!node_mldsa"/>
          <p:cNvSpPr/>
          <p:nvPr/>
        </p:nvSpPr>
        <p:spPr>
          <a:xfrm>
            <a:off x="7863840" y="1280160"/>
            <a:ext cx="1691640" cy="658368"/>
          </a:xfrm>
          <a:prstGeom prst="roundRect">
            <a:avLst>
              <a:gd name="adj" fmla="val 4000"/>
            </a:avLst>
          </a:prstGeom>
          <a:solidFill>
            <a:srgbClr val="1818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3567" y="1371600"/>
            <a:ext cx="1472184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100" b="1">
                <a:solidFill>
                  <a:srgbClr val="FAFAFA"/>
                </a:solidFill>
                <a:latin typeface="Arial"/>
              </a:rPr>
              <a:t>ML-DSA-44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73567" y="1645919"/>
            <a:ext cx="1472184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950" b="0">
                <a:solidFill>
                  <a:srgbClr val="10B981"/>
                </a:solidFill>
                <a:latin typeface="Courier New"/>
              </a:rPr>
              <a:t>2,420 B · 17.7 ms</a:t>
            </a:r>
          </a:p>
        </p:txBody>
      </p:sp>
      <p:sp>
        <p:nvSpPr>
          <p:cNvPr id="23" name="!!node_ed"/>
          <p:cNvSpPr/>
          <p:nvPr/>
        </p:nvSpPr>
        <p:spPr>
          <a:xfrm>
            <a:off x="9738360" y="1280160"/>
            <a:ext cx="1691640" cy="658368"/>
          </a:xfrm>
          <a:prstGeom prst="roundRect">
            <a:avLst>
              <a:gd name="adj" fmla="val 4000"/>
            </a:avLst>
          </a:prstGeom>
          <a:solidFill>
            <a:srgbClr val="1818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48088" y="1371600"/>
            <a:ext cx="1472184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100" b="1">
                <a:solidFill>
                  <a:srgbClr val="FAFAFA"/>
                </a:solidFill>
                <a:latin typeface="Arial"/>
              </a:rPr>
              <a:t>Ed25519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48088" y="1645919"/>
            <a:ext cx="1472184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950" b="0">
                <a:solidFill>
                  <a:srgbClr val="10B981"/>
                </a:solidFill>
                <a:latin typeface="Courier New"/>
              </a:rPr>
              <a:t>64 B · 34.0 ms</a:t>
            </a:r>
          </a:p>
        </p:txBody>
      </p:sp>
      <p:sp>
        <p:nvSpPr>
          <p:cNvPr id="26" name="!!node_2fa"/>
          <p:cNvSpPr/>
          <p:nvPr/>
        </p:nvSpPr>
        <p:spPr>
          <a:xfrm>
            <a:off x="8321040" y="2423160"/>
            <a:ext cx="2560320" cy="658368"/>
          </a:xfrm>
          <a:prstGeom prst="roundRect">
            <a:avLst>
              <a:gd name="adj" fmla="val 4000"/>
            </a:avLst>
          </a:prstGeom>
          <a:solidFill>
            <a:srgbClr val="18181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30767" y="2514600"/>
            <a:ext cx="2340863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100" b="1">
                <a:solidFill>
                  <a:srgbClr val="FAFAFA"/>
                </a:solidFill>
                <a:latin typeface="Arial"/>
              </a:rPr>
              <a:t>OEM Hybrid 2FA 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0767" y="2788920"/>
            <a:ext cx="2340863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950" b="0">
                <a:solidFill>
                  <a:srgbClr val="38BDF8"/>
                </a:solidFill>
                <a:latin typeface="Courier New"/>
              </a:rPr>
              <a:t>2/2 Signatures Valid</a:t>
            </a:r>
          </a:p>
        </p:txBody>
      </p:sp>
      <p:sp>
        <p:nvSpPr>
          <p:cNvPr id="29" name="!!node_nvs"/>
          <p:cNvSpPr/>
          <p:nvPr/>
        </p:nvSpPr>
        <p:spPr>
          <a:xfrm>
            <a:off x="8321040" y="3520440"/>
            <a:ext cx="2560320" cy="658368"/>
          </a:xfrm>
          <a:prstGeom prst="roundRect">
            <a:avLst>
              <a:gd name="adj" fmla="val 4000"/>
            </a:avLst>
          </a:prstGeom>
          <a:solidFill>
            <a:srgbClr val="1818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30767" y="3611880"/>
            <a:ext cx="2340863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100" b="1">
                <a:solidFill>
                  <a:srgbClr val="FAFAFA"/>
                </a:solidFill>
                <a:latin typeface="Arial"/>
              </a:rPr>
              <a:t>NVS Monotonic Gate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0767" y="3886200"/>
            <a:ext cx="2340863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950" b="0">
                <a:solidFill>
                  <a:srgbClr val="10B981"/>
                </a:solidFill>
                <a:latin typeface="Courier New"/>
              </a:rPr>
              <a:t>SV 2 &gt; Installed SV 1</a:t>
            </a:r>
          </a:p>
        </p:txBody>
      </p:sp>
      <p:sp>
        <p:nvSpPr>
          <p:cNvPr id="32" name="!!node_core"/>
          <p:cNvSpPr/>
          <p:nvPr/>
        </p:nvSpPr>
        <p:spPr>
          <a:xfrm>
            <a:off x="8092440" y="4617720"/>
            <a:ext cx="3017520" cy="713232"/>
          </a:xfrm>
          <a:prstGeom prst="roundRect">
            <a:avLst>
              <a:gd name="adj" fmla="val 4000"/>
            </a:avLst>
          </a:prstGeom>
          <a:solidFill>
            <a:srgbClr val="1818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02167" y="4709159"/>
            <a:ext cx="2798063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100" b="1">
                <a:solidFill>
                  <a:srgbClr val="FAFAFA"/>
                </a:solidFill>
                <a:latin typeface="Arial"/>
              </a:rPr>
              <a:t>ESP32-LX6 · SHA3-256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02167" y="4983480"/>
            <a:ext cx="2798063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950" b="0">
                <a:solidFill>
                  <a:srgbClr val="10B981"/>
                </a:solidFill>
                <a:latin typeface="Courier New"/>
              </a:rPr>
              <a:t>Atomic Swap -&gt; Slot B (ota_1)</a:t>
            </a:r>
          </a:p>
        </p:txBody>
      </p:sp>
    </p:spTree>
  </p:cSld>
  <p:clrMapOvr>
    <a:masterClrMapping/>
  </p:clrMapOvr>
  <p:transition xmlns:p14="http://schemas.microsoft.com/office/powerpoint/2010/main" spd="med" advClick="1">
    <p:fade thruBlk="0"/>
    <p:extLst>
      <p:ext uri="{D58B2C81-2181-4053-9C46-7B19A82C0B36}">
        <p14:transition dur="650"/>
      </p:ext>
    </p:extLst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top_rail"/>
          <p:cNvSpPr/>
          <p:nvPr/>
        </p:nvSpPr>
        <p:spPr>
          <a:xfrm>
            <a:off x="731520" y="411480"/>
            <a:ext cx="10728655" cy="27432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top_progress"/>
          <p:cNvSpPr/>
          <p:nvPr/>
        </p:nvSpPr>
        <p:spPr>
          <a:xfrm>
            <a:off x="731520" y="411480"/>
            <a:ext cx="1341081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sec_tag"/>
          <p:cNvSpPr txBox="1"/>
          <p:nvPr/>
        </p:nvSpPr>
        <p:spPr>
          <a:xfrm>
            <a:off x="731520" y="566928"/>
            <a:ext cx="548640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Courier New"/>
              </a:rPr>
              <a:t>01 // THE PROBLEM (PQC-02)</a:t>
            </a:r>
          </a:p>
        </p:txBody>
      </p:sp>
      <p:sp>
        <p:nvSpPr>
          <p:cNvPr id="5" name="!!sec_title"/>
          <p:cNvSpPr txBox="1"/>
          <p:nvPr/>
        </p:nvSpPr>
        <p:spPr>
          <a:xfrm>
            <a:off x="731520" y="841248"/>
            <a:ext cx="8686800" cy="5943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800" b="1">
                <a:solidFill>
                  <a:srgbClr val="FAFAFA"/>
                </a:solidFill>
                <a:latin typeface="Arial"/>
              </a:rPr>
              <a:t>Why Automotive OTA Needs Hybrid Post-Quantum Auth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89888"/>
            <a:ext cx="960120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300" b="0">
                <a:solidFill>
                  <a:srgbClr val="A1A1AA"/>
                </a:solidFill>
                <a:latin typeface="Arial"/>
              </a:rPr>
              <a:t>Vehicles operate for 15–20 years on the road, but embedded ECUs cannot run naive post-quantum schemes.</a:t>
            </a:r>
          </a:p>
        </p:txBody>
      </p:sp>
      <p:sp>
        <p:nvSpPr>
          <p:cNvPr id="7" name="!!brand_corner"/>
          <p:cNvSpPr txBox="1"/>
          <p:nvPr/>
        </p:nvSpPr>
        <p:spPr>
          <a:xfrm>
            <a:off x="9875520" y="566928"/>
            <a:ext cx="1584655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1000" b="0">
                <a:solidFill>
                  <a:srgbClr val="71717A"/>
                </a:solidFill>
                <a:latin typeface="Courier New"/>
              </a:rPr>
              <a:t>AutoQrpt · PQC-02</a:t>
            </a:r>
          </a:p>
        </p:txBody>
      </p:sp>
      <p:sp>
        <p:nvSpPr>
          <p:cNvPr id="8" name="!!prob_0"/>
          <p:cNvSpPr/>
          <p:nvPr/>
        </p:nvSpPr>
        <p:spPr>
          <a:xfrm>
            <a:off x="731520" y="2103120"/>
            <a:ext cx="3413455" cy="3977639"/>
          </a:xfrm>
          <a:prstGeom prst="roundRect">
            <a:avLst>
              <a:gd name="adj" fmla="val 4000"/>
            </a:avLst>
          </a:prstGeom>
          <a:solidFill>
            <a:srgbClr val="121216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103120"/>
            <a:ext cx="3413455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331720"/>
            <a:ext cx="2926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950" b="1">
                <a:solidFill>
                  <a:srgbClr val="EF4444"/>
                </a:solidFill>
                <a:latin typeface="Courier New"/>
              </a:rPr>
              <a:t>01 // SHOR'S ALGORITHM &amp; HNDL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651760"/>
            <a:ext cx="292608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800" b="1">
                <a:solidFill>
                  <a:srgbClr val="FAFAFA"/>
                </a:solidFill>
                <a:latin typeface="Arial"/>
              </a:rPr>
              <a:t>20-Year Road Exposure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200400"/>
            <a:ext cx="2926080" cy="17373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A1A1AA"/>
                </a:solidFill>
                <a:latin typeface="Arial"/>
              </a:rPr>
              <a:t>Adversaries capturing wireless OTA traffic today can forge classical RSA and ECDSA/Ed25519 signatures once Cryptanalytically Relevant Quantum Computers (CRQCs) arrive during a vehicle's operational life.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" y="5074920"/>
            <a:ext cx="3008376" cy="777240"/>
          </a:xfrm>
          <a:prstGeom prst="roundRect">
            <a:avLst>
              <a:gd name="adj" fmla="val 4000"/>
            </a:avLst>
          </a:prstGeom>
          <a:solidFill>
            <a:srgbClr val="18181E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6" y="5166360"/>
            <a:ext cx="2788920" cy="5943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0">
                <a:solidFill>
                  <a:srgbClr val="FAFAFA"/>
                </a:solidFill>
                <a:latin typeface="Courier New"/>
              </a:rPr>
              <a:t>Impact: Arbitrary remote code execution on braking, steering &amp; ADAS ECUs.</a:t>
            </a:r>
          </a:p>
        </p:txBody>
      </p:sp>
      <p:sp>
        <p:nvSpPr>
          <p:cNvPr id="15" name="!!prob_1"/>
          <p:cNvSpPr/>
          <p:nvPr/>
        </p:nvSpPr>
        <p:spPr>
          <a:xfrm>
            <a:off x="4389120" y="2103120"/>
            <a:ext cx="3413455" cy="3977639"/>
          </a:xfrm>
          <a:prstGeom prst="roundRect">
            <a:avLst>
              <a:gd name="adj" fmla="val 4000"/>
            </a:avLst>
          </a:prstGeom>
          <a:solidFill>
            <a:srgbClr val="121216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2103120"/>
            <a:ext cx="341345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45152" y="2331720"/>
            <a:ext cx="2926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950" b="1">
                <a:solidFill>
                  <a:srgbClr val="F59E0B"/>
                </a:solidFill>
                <a:latin typeface="Courier New"/>
              </a:rPr>
              <a:t>02 // CRYPTOGRAPHIC AGILITY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2651760"/>
            <a:ext cx="292608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800" b="1">
                <a:solidFill>
                  <a:srgbClr val="FAFAFA"/>
                </a:solidFill>
                <a:latin typeface="Arial"/>
              </a:rPr>
              <a:t>Pure PQC Is Not Enough Alone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3200400"/>
            <a:ext cx="2926080" cy="17373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A1A1AA"/>
                </a:solidFill>
                <a:latin typeface="Arial"/>
              </a:rPr>
              <a:t>Automotive OEMs cannot drop classical cryptography overnight—if an algebraic lattice shortcut is discovered in a standalone PQC primitive, a single-algorithm system fails open.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90288" y="5074920"/>
            <a:ext cx="3008376" cy="777240"/>
          </a:xfrm>
          <a:prstGeom prst="roundRect">
            <a:avLst>
              <a:gd name="adj" fmla="val 4000"/>
            </a:avLst>
          </a:prstGeom>
          <a:solidFill>
            <a:srgbClr val="18181E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0016" y="5166360"/>
            <a:ext cx="2788920" cy="5943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0">
                <a:solidFill>
                  <a:srgbClr val="FAFAFA"/>
                </a:solidFill>
                <a:latin typeface="Courier New"/>
              </a:rPr>
              <a:t>Requirement: Zero-fallback PQ/T Hybrid 2FA where both classical &amp; PQC must pass.</a:t>
            </a:r>
          </a:p>
        </p:txBody>
      </p:sp>
      <p:sp>
        <p:nvSpPr>
          <p:cNvPr id="22" name="!!prob_2"/>
          <p:cNvSpPr/>
          <p:nvPr/>
        </p:nvSpPr>
        <p:spPr>
          <a:xfrm>
            <a:off x="8046720" y="2103120"/>
            <a:ext cx="3413455" cy="3977639"/>
          </a:xfrm>
          <a:prstGeom prst="roundRect">
            <a:avLst>
              <a:gd name="adj" fmla="val 4000"/>
            </a:avLst>
          </a:prstGeom>
          <a:solidFill>
            <a:srgbClr val="121216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0" y="2103120"/>
            <a:ext cx="341345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02752" y="2331720"/>
            <a:ext cx="2926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950" b="1">
                <a:solidFill>
                  <a:srgbClr val="38BDF8"/>
                </a:solidFill>
                <a:latin typeface="Courier New"/>
              </a:rPr>
              <a:t>03 // EMBEDDED SILICON LIMITS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2651760"/>
            <a:ext cx="292608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800" b="1">
                <a:solidFill>
                  <a:srgbClr val="FAFAFA"/>
                </a:solidFill>
                <a:latin typeface="Arial"/>
              </a:rPr>
              <a:t>520 KB SRAM &amp; 64B CAN-FD Frames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3200400"/>
            <a:ext cx="2926080" cy="17373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A1A1AA"/>
                </a:solidFill>
                <a:latin typeface="Arial"/>
              </a:rPr>
              <a:t>Large post-quantum keys and signatures overflow microcontroller task stacks and flood 64-byte CAN-FD arbitration buses, starving safety-critical real-time vehicle frames.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47888" y="5074920"/>
            <a:ext cx="3008376" cy="777240"/>
          </a:xfrm>
          <a:prstGeom prst="roundRect">
            <a:avLst>
              <a:gd name="adj" fmla="val 4000"/>
            </a:avLst>
          </a:prstGeom>
          <a:solidFill>
            <a:srgbClr val="18181E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57616" y="5166360"/>
            <a:ext cx="2788920" cy="5943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0">
                <a:solidFill>
                  <a:srgbClr val="FAFAFA"/>
                </a:solidFill>
                <a:latin typeface="Courier New"/>
              </a:rPr>
              <a:t>Target: &lt; 40 KB stack peak and compact CAN-FD frame budget on 240 MHz silicon.</a:t>
            </a:r>
          </a:p>
        </p:txBody>
      </p:sp>
    </p:spTree>
  </p:cSld>
  <p:clrMapOvr>
    <a:masterClrMapping/>
  </p:clrMapOvr>
  <p:transition xmlns:p14="http://schemas.microsoft.com/office/powerpoint/2010/main" xmlns:p159="http://schemas.microsoft.com/office/powerpoint/2015/09/main" spd="med" advClick="1">
    <p:extLst>
      <p:ext uri="{D58B2C81-2181-4053-9C46-7B19A82C0B36}">
        <p14:transition dur="900"/>
      </p:ext>
      <p:ext uri="{39408819-310E-4349-B0A4-A211590E3C66}">
        <p159:morph option="byObject"/>
      </p:ext>
    </p:extLst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top_rail"/>
          <p:cNvSpPr/>
          <p:nvPr/>
        </p:nvSpPr>
        <p:spPr>
          <a:xfrm>
            <a:off x="731520" y="411480"/>
            <a:ext cx="10728655" cy="27432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top_progress"/>
          <p:cNvSpPr/>
          <p:nvPr/>
        </p:nvSpPr>
        <p:spPr>
          <a:xfrm>
            <a:off x="731520" y="411480"/>
            <a:ext cx="2682163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sec_tag"/>
          <p:cNvSpPr txBox="1"/>
          <p:nvPr/>
        </p:nvSpPr>
        <p:spPr>
          <a:xfrm>
            <a:off x="731520" y="566928"/>
            <a:ext cx="548640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Courier New"/>
              </a:rPr>
              <a:t>02 // SYSTEM ARCHITECTURE</a:t>
            </a:r>
          </a:p>
        </p:txBody>
      </p:sp>
      <p:sp>
        <p:nvSpPr>
          <p:cNvPr id="5" name="!!sec_title"/>
          <p:cNvSpPr txBox="1"/>
          <p:nvPr/>
        </p:nvSpPr>
        <p:spPr>
          <a:xfrm>
            <a:off x="731520" y="841248"/>
            <a:ext cx="8686800" cy="5943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800" b="1">
                <a:solidFill>
                  <a:srgbClr val="FAFAFA"/>
                </a:solidFill>
                <a:latin typeface="Arial"/>
              </a:rPr>
              <a:t>Uptane Two-Role Separation + PQ/T Hybrid 2FA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89888"/>
            <a:ext cx="960120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300" b="0">
                <a:solidFill>
                  <a:srgbClr val="A1A1AA"/>
                </a:solidFill>
                <a:latin typeface="Arial"/>
              </a:rPr>
              <a:t>Separating air-gapped OEM code signing from online Fleet Director vehicle targeting.</a:t>
            </a:r>
          </a:p>
        </p:txBody>
      </p:sp>
      <p:sp>
        <p:nvSpPr>
          <p:cNvPr id="7" name="!!brand_corner"/>
          <p:cNvSpPr txBox="1"/>
          <p:nvPr/>
        </p:nvSpPr>
        <p:spPr>
          <a:xfrm>
            <a:off x="9875520" y="566928"/>
            <a:ext cx="1584655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1000" b="0">
                <a:solidFill>
                  <a:srgbClr val="71717A"/>
                </a:solidFill>
                <a:latin typeface="Courier New"/>
              </a:rPr>
              <a:t>AutoQrpt · PQC-02</a:t>
            </a:r>
          </a:p>
        </p:txBody>
      </p:sp>
      <p:sp>
        <p:nvSpPr>
          <p:cNvPr id="8" name="!!node_qrng"/>
          <p:cNvSpPr/>
          <p:nvPr/>
        </p:nvSpPr>
        <p:spPr>
          <a:xfrm>
            <a:off x="731520" y="2148840"/>
            <a:ext cx="2377440" cy="3931920"/>
          </a:xfrm>
          <a:prstGeom prst="roundRect">
            <a:avLst>
              <a:gd name="adj" fmla="val 4000"/>
            </a:avLst>
          </a:prstGeom>
          <a:solidFill>
            <a:srgbClr val="121216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350008"/>
            <a:ext cx="1975104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950" b="1">
                <a:solidFill>
                  <a:srgbClr val="A855F7"/>
                </a:solidFill>
                <a:latin typeface="Courier New"/>
              </a:rPr>
              <a:t>STAGE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651760"/>
            <a:ext cx="1975104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FAFAFA"/>
                </a:solidFill>
                <a:latin typeface="Arial"/>
              </a:rPr>
              <a:t>QpiAI Quantum QRNG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00400"/>
            <a:ext cx="1975104" cy="21031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150" b="0">
                <a:solidFill>
                  <a:srgbClr val="A1A1AA"/>
                </a:solidFill>
                <a:latin typeface="Arial"/>
              </a:rPr>
              <a:t>8-Qubit Hadamard circuit (H^8 |0&gt;^8, 1,024 shots) mixed with os.urandom(32) via SHA3-256.
Shannon Entropy: 7.815 bits
Min-Entropy: 6.54 bits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" y="5394960"/>
            <a:ext cx="2048256" cy="475488"/>
          </a:xfrm>
          <a:prstGeom prst="roundRect">
            <a:avLst>
              <a:gd name="adj" fmla="val 4000"/>
            </a:avLst>
          </a:prstGeom>
          <a:solidFill>
            <a:srgbClr val="18181E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5504688"/>
            <a:ext cx="1865376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050" b="1">
                <a:solidFill>
                  <a:srgbClr val="A855F7"/>
                </a:solidFill>
                <a:latin typeface="Courier New"/>
              </a:rPr>
              <a:t>256-bit Root Seed</a:t>
            </a:r>
          </a:p>
        </p:txBody>
      </p:sp>
      <p:sp>
        <p:nvSpPr>
          <p:cNvPr id="14" name="!!node_2fa"/>
          <p:cNvSpPr/>
          <p:nvPr/>
        </p:nvSpPr>
        <p:spPr>
          <a:xfrm>
            <a:off x="3429000" y="2148840"/>
            <a:ext cx="2606040" cy="3931920"/>
          </a:xfrm>
          <a:prstGeom prst="roundRect">
            <a:avLst>
              <a:gd name="adj" fmla="val 4000"/>
            </a:avLst>
          </a:prstGeom>
          <a:solidFill>
            <a:srgbClr val="12121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0168" y="2350008"/>
            <a:ext cx="2203704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950" b="1">
                <a:solidFill>
                  <a:srgbClr val="38BDF8"/>
                </a:solidFill>
                <a:latin typeface="Courier New"/>
              </a:rPr>
              <a:t>STAGE 02 · OFFLINE HSM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2651760"/>
            <a:ext cx="2203704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FAFAFA"/>
                </a:solidFill>
                <a:latin typeface="Arial"/>
              </a:rPr>
              <a:t>Air-Gapped Image Role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0168" y="3200400"/>
            <a:ext cx="2203704" cy="21031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150" b="0">
                <a:solidFill>
                  <a:srgbClr val="A1A1AA"/>
                </a:solidFill>
                <a:latin typeface="Arial"/>
              </a:rPr>
              <a:t>Signs 'AQ-IMAGE-V1' || manifest using:
• NIST FIPS 204 ML-DSA-44 (2,420 B)
• RFC 8032 Ed25519 (64 B)
Even if cloud servers are breached, attackers cannot sign code.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93592" y="5394960"/>
            <a:ext cx="2276856" cy="475488"/>
          </a:xfrm>
          <a:prstGeom prst="roundRect">
            <a:avLst>
              <a:gd name="adj" fmla="val 4000"/>
            </a:avLst>
          </a:prstGeom>
          <a:solidFill>
            <a:srgbClr val="18181E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85032" y="5504688"/>
            <a:ext cx="2093976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050" b="1">
                <a:solidFill>
                  <a:srgbClr val="38BDF8"/>
                </a:solidFill>
                <a:latin typeface="Courier New"/>
              </a:rPr>
              <a:t>2,484 B Dual Signature</a:t>
            </a:r>
          </a:p>
        </p:txBody>
      </p:sp>
      <p:sp>
        <p:nvSpPr>
          <p:cNvPr id="20" name="!!node_nvs"/>
          <p:cNvSpPr/>
          <p:nvPr/>
        </p:nvSpPr>
        <p:spPr>
          <a:xfrm>
            <a:off x="6355080" y="2148840"/>
            <a:ext cx="2423160" cy="3931920"/>
          </a:xfrm>
          <a:prstGeom prst="roundRect">
            <a:avLst>
              <a:gd name="adj" fmla="val 4000"/>
            </a:avLst>
          </a:prstGeom>
          <a:solidFill>
            <a:srgbClr val="12121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6248" y="2350008"/>
            <a:ext cx="2020824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950" b="1">
                <a:solidFill>
                  <a:srgbClr val="10B981"/>
                </a:solidFill>
                <a:latin typeface="Courier New"/>
              </a:rPr>
              <a:t>STAGE 03 · ONLINE HSM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6248" y="2651760"/>
            <a:ext cx="2020824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FAFAFA"/>
                </a:solidFill>
                <a:latin typeface="Arial"/>
              </a:rPr>
              <a:t>Fleet Director Role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6248" y="3200400"/>
            <a:ext cx="2020824" cy="21031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150" b="0">
                <a:solidFill>
                  <a:srgbClr val="A1A1AA"/>
                </a:solidFill>
                <a:latin typeface="Arial"/>
              </a:rPr>
              <a:t>Signs 'AQ-DIRECTOR-V1' || 'VEH-1' || manifest using NIST Round 3 Falcon-512.
Compresses vehicle targeting into 666 B (11 CAN-FD frames).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19672" y="5394960"/>
            <a:ext cx="2093976" cy="475488"/>
          </a:xfrm>
          <a:prstGeom prst="roundRect">
            <a:avLst>
              <a:gd name="adj" fmla="val 4000"/>
            </a:avLst>
          </a:prstGeom>
          <a:solidFill>
            <a:srgbClr val="18181E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11112" y="5504688"/>
            <a:ext cx="1911095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050" b="1">
                <a:solidFill>
                  <a:srgbClr val="10B981"/>
                </a:solidFill>
                <a:latin typeface="Courier New"/>
              </a:rPr>
              <a:t>666 B · 11 CAN-FD Frames</a:t>
            </a:r>
          </a:p>
        </p:txBody>
      </p:sp>
      <p:sp>
        <p:nvSpPr>
          <p:cNvPr id="26" name="!!node_core"/>
          <p:cNvSpPr/>
          <p:nvPr/>
        </p:nvSpPr>
        <p:spPr>
          <a:xfrm>
            <a:off x="9098280" y="2148840"/>
            <a:ext cx="2359152" cy="3931920"/>
          </a:xfrm>
          <a:prstGeom prst="roundRect">
            <a:avLst>
              <a:gd name="adj" fmla="val 4000"/>
            </a:avLst>
          </a:prstGeom>
          <a:solidFill>
            <a:srgbClr val="12121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99448" y="2350008"/>
            <a:ext cx="1956816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950" b="1">
                <a:solidFill>
                  <a:srgbClr val="F59E0B"/>
                </a:solidFill>
                <a:latin typeface="Courier New"/>
              </a:rPr>
              <a:t>STAGE 04 · ESP32-LX6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9448" y="2651760"/>
            <a:ext cx="1956816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FAFAFA"/>
                </a:solidFill>
                <a:latin typeface="Arial"/>
              </a:rPr>
              <a:t>Silicon Gate &amp; Swap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9448" y="3200400"/>
            <a:ext cx="1956816" cy="21031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150" b="0">
                <a:solidFill>
                  <a:srgbClr val="A1A1AA"/>
                </a:solidFill>
                <a:latin typeface="Arial"/>
              </a:rPr>
              <a:t>Verifies NVS counter + all 3 signatures in RAM before erasing Slot B.
Streams 4 KB chunks with SHA3-256 and swaps ota_0 &lt;-&gt; ota_1.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62872" y="5394960"/>
            <a:ext cx="2029968" cy="475488"/>
          </a:xfrm>
          <a:prstGeom prst="roundRect">
            <a:avLst>
              <a:gd name="adj" fmla="val 4000"/>
            </a:avLst>
          </a:prstGeom>
          <a:solidFill>
            <a:srgbClr val="18181E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54311" y="5504688"/>
            <a:ext cx="1847088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050" b="1">
                <a:solidFill>
                  <a:srgbClr val="F59E0B"/>
                </a:solidFill>
                <a:latin typeface="Courier New"/>
              </a:rPr>
              <a:t>71.4 ms Total Verify</a:t>
            </a:r>
          </a:p>
        </p:txBody>
      </p:sp>
    </p:spTree>
  </p:cSld>
  <p:clrMapOvr>
    <a:masterClrMapping/>
  </p:clrMapOvr>
  <p:transition xmlns:p14="http://schemas.microsoft.com/office/powerpoint/2010/main" xmlns:p159="http://schemas.microsoft.com/office/powerpoint/2015/09/main" spd="med" advClick="1">
    <p:extLst>
      <p:ext uri="{D58B2C81-2181-4053-9C46-7B19A82C0B36}">
        <p14:transition dur="900"/>
      </p:ext>
      <p:ext uri="{39408819-310E-4349-B0A4-A211590E3C66}">
        <p159:morph option="byObject"/>
      </p:ext>
    </p:extLst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top_rail"/>
          <p:cNvSpPr/>
          <p:nvPr/>
        </p:nvSpPr>
        <p:spPr>
          <a:xfrm>
            <a:off x="731520" y="411480"/>
            <a:ext cx="10728655" cy="27432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top_progress"/>
          <p:cNvSpPr/>
          <p:nvPr/>
        </p:nvSpPr>
        <p:spPr>
          <a:xfrm>
            <a:off x="731520" y="411480"/>
            <a:ext cx="4023245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sec_tag"/>
          <p:cNvSpPr txBox="1"/>
          <p:nvPr/>
        </p:nvSpPr>
        <p:spPr>
          <a:xfrm>
            <a:off x="731520" y="566928"/>
            <a:ext cx="548640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Courier New"/>
              </a:rPr>
              <a:t>03 // DETERMINISTIC WIRE PROTOCOL</a:t>
            </a:r>
          </a:p>
        </p:txBody>
      </p:sp>
      <p:sp>
        <p:nvSpPr>
          <p:cNvPr id="5" name="!!sec_title"/>
          <p:cNvSpPr txBox="1"/>
          <p:nvPr/>
        </p:nvSpPr>
        <p:spPr>
          <a:xfrm>
            <a:off x="731520" y="841248"/>
            <a:ext cx="8686800" cy="5943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800" b="1">
                <a:solidFill>
                  <a:srgbClr val="FAFAFA"/>
                </a:solidFill>
                <a:latin typeface="Arial"/>
              </a:rPr>
              <a:t>Inside the 3,262-Byte .aqpk Frame Header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89888"/>
            <a:ext cx="960120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300" b="0">
                <a:solidFill>
                  <a:srgbClr val="A1A1AA"/>
                </a:solidFill>
                <a:latin typeface="Arial"/>
              </a:rPr>
              <a:t>Every byte matches firmware/main/main.c — fitting 3 signatures + manifest into 51 CAN-FD 64B frames.</a:t>
            </a:r>
          </a:p>
        </p:txBody>
      </p:sp>
      <p:sp>
        <p:nvSpPr>
          <p:cNvPr id="7" name="!!brand_corner"/>
          <p:cNvSpPr txBox="1"/>
          <p:nvPr/>
        </p:nvSpPr>
        <p:spPr>
          <a:xfrm>
            <a:off x="9875520" y="566928"/>
            <a:ext cx="1584655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1000" b="0">
                <a:solidFill>
                  <a:srgbClr val="71717A"/>
                </a:solidFill>
                <a:latin typeface="Courier New"/>
              </a:rPr>
              <a:t>AutoQrpt · PQC-02</a:t>
            </a:r>
          </a:p>
        </p:txBody>
      </p:sp>
      <p:sp>
        <p:nvSpPr>
          <p:cNvPr id="8" name="!!seg_magic"/>
          <p:cNvSpPr/>
          <p:nvPr/>
        </p:nvSpPr>
        <p:spPr>
          <a:xfrm>
            <a:off x="731520" y="2148840"/>
            <a:ext cx="1051560" cy="1143000"/>
          </a:xfrm>
          <a:prstGeom prst="roundRect">
            <a:avLst>
              <a:gd name="adj" fmla="val 4000"/>
            </a:avLst>
          </a:prstGeom>
          <a:solidFill>
            <a:srgbClr val="18181E"/>
          </a:solidFill>
          <a:ln w="12700">
            <a:solidFill>
              <a:srgbClr val="717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276856"/>
            <a:ext cx="795527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850" b="0">
                <a:solidFill>
                  <a:srgbClr val="A1A1AA"/>
                </a:solidFill>
                <a:latin typeface="Courier New"/>
              </a:rPr>
              <a:t>0x0000..0x0003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551176"/>
            <a:ext cx="795527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150" b="1">
                <a:solidFill>
                  <a:srgbClr val="FAFAFA"/>
                </a:solidFill>
                <a:latin typeface="Arial"/>
              </a:rPr>
              <a:t>AQPK Magic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916936"/>
            <a:ext cx="795527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50" b="1">
                <a:solidFill>
                  <a:srgbClr val="71717A"/>
                </a:solidFill>
                <a:latin typeface="Courier New"/>
              </a:rPr>
              <a:t>4 B</a:t>
            </a:r>
          </a:p>
        </p:txBody>
      </p:sp>
      <p:sp>
        <p:nvSpPr>
          <p:cNvPr id="12" name="!!seg_man"/>
          <p:cNvSpPr/>
          <p:nvPr/>
        </p:nvSpPr>
        <p:spPr>
          <a:xfrm>
            <a:off x="1874519" y="2148840"/>
            <a:ext cx="1783080" cy="1143000"/>
          </a:xfrm>
          <a:prstGeom prst="roundRect">
            <a:avLst>
              <a:gd name="adj" fmla="val 4000"/>
            </a:avLst>
          </a:prstGeom>
          <a:solidFill>
            <a:srgbClr val="18181E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02536" y="2276856"/>
            <a:ext cx="1527048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850" b="0">
                <a:solidFill>
                  <a:srgbClr val="A1A1AA"/>
                </a:solidFill>
                <a:latin typeface="Courier New"/>
              </a:rPr>
              <a:t>0x0004..0x006F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02536" y="2551176"/>
            <a:ext cx="1527048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150" b="1">
                <a:solidFill>
                  <a:srgbClr val="FAFAFA"/>
                </a:solidFill>
                <a:latin typeface="Arial"/>
              </a:rPr>
              <a:t>Manifest (AQM1)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02536" y="2916936"/>
            <a:ext cx="1527048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50" b="1">
                <a:solidFill>
                  <a:srgbClr val="A855F7"/>
                </a:solidFill>
                <a:latin typeface="Courier New"/>
              </a:rPr>
              <a:t>108 B</a:t>
            </a:r>
          </a:p>
        </p:txBody>
      </p:sp>
      <p:sp>
        <p:nvSpPr>
          <p:cNvPr id="16" name="!!seg_fal"/>
          <p:cNvSpPr/>
          <p:nvPr/>
        </p:nvSpPr>
        <p:spPr>
          <a:xfrm>
            <a:off x="3749039" y="2148840"/>
            <a:ext cx="2423160" cy="1143000"/>
          </a:xfrm>
          <a:prstGeom prst="roundRect">
            <a:avLst>
              <a:gd name="adj" fmla="val 4000"/>
            </a:avLst>
          </a:prstGeom>
          <a:solidFill>
            <a:srgbClr val="18181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77055" y="2276856"/>
            <a:ext cx="2167128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850" b="0">
                <a:solidFill>
                  <a:srgbClr val="A1A1AA"/>
                </a:solidFill>
                <a:latin typeface="Courier New"/>
              </a:rPr>
              <a:t>0x0070..0x0309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77055" y="2551176"/>
            <a:ext cx="2167128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150" b="1">
                <a:solidFill>
                  <a:srgbClr val="FAFAFA"/>
                </a:solidFill>
                <a:latin typeface="Arial"/>
              </a:rPr>
              <a:t>Falcon-512 Director Sig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77055" y="2916936"/>
            <a:ext cx="2167128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50" b="1">
                <a:solidFill>
                  <a:srgbClr val="38BDF8"/>
                </a:solidFill>
                <a:latin typeface="Courier New"/>
              </a:rPr>
              <a:t>666 B (11 Frames)</a:t>
            </a:r>
          </a:p>
        </p:txBody>
      </p:sp>
      <p:sp>
        <p:nvSpPr>
          <p:cNvPr id="20" name="!!seg_ed"/>
          <p:cNvSpPr/>
          <p:nvPr/>
        </p:nvSpPr>
        <p:spPr>
          <a:xfrm>
            <a:off x="6263640" y="2148840"/>
            <a:ext cx="1417320" cy="1143000"/>
          </a:xfrm>
          <a:prstGeom prst="roundRect">
            <a:avLst>
              <a:gd name="adj" fmla="val 4000"/>
            </a:avLst>
          </a:prstGeom>
          <a:solidFill>
            <a:srgbClr val="18181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91655" y="2276856"/>
            <a:ext cx="1161288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850" b="0">
                <a:solidFill>
                  <a:srgbClr val="A1A1AA"/>
                </a:solidFill>
                <a:latin typeface="Courier New"/>
              </a:rPr>
              <a:t>0x030A..0x0349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5" y="2551176"/>
            <a:ext cx="1161288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150" b="1">
                <a:solidFill>
                  <a:srgbClr val="FAFAFA"/>
                </a:solidFill>
                <a:latin typeface="Arial"/>
              </a:rPr>
              <a:t>Ed25519 Sig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655" y="2916936"/>
            <a:ext cx="1161288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50" b="1">
                <a:solidFill>
                  <a:srgbClr val="F59E0B"/>
                </a:solidFill>
                <a:latin typeface="Courier New"/>
              </a:rPr>
              <a:t>64 B (1 Frame)</a:t>
            </a:r>
          </a:p>
        </p:txBody>
      </p:sp>
      <p:sp>
        <p:nvSpPr>
          <p:cNvPr id="24" name="!!seg_ml"/>
          <p:cNvSpPr/>
          <p:nvPr/>
        </p:nvSpPr>
        <p:spPr>
          <a:xfrm>
            <a:off x="7772400" y="2148840"/>
            <a:ext cx="3687775" cy="1143000"/>
          </a:xfrm>
          <a:prstGeom prst="roundRect">
            <a:avLst>
              <a:gd name="adj" fmla="val 4000"/>
            </a:avLst>
          </a:prstGeom>
          <a:solidFill>
            <a:srgbClr val="1818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00416" y="2276856"/>
            <a:ext cx="3431743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850" b="0">
                <a:solidFill>
                  <a:srgbClr val="A1A1AA"/>
                </a:solidFill>
                <a:latin typeface="Courier New"/>
              </a:rPr>
              <a:t>0x034A..0x0CBE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0416" y="2551176"/>
            <a:ext cx="3431743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150" b="1">
                <a:solidFill>
                  <a:srgbClr val="FAFAFA"/>
                </a:solidFill>
                <a:latin typeface="Arial"/>
              </a:rPr>
              <a:t>NIST FIPS 204 ML-DSA-44 Sig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0416" y="2916936"/>
            <a:ext cx="3431743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50" b="1">
                <a:solidFill>
                  <a:srgbClr val="10B981"/>
                </a:solidFill>
                <a:latin typeface="Courier New"/>
              </a:rPr>
              <a:t>2,420 B (38 Frames)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3611880"/>
            <a:ext cx="5212080" cy="2514600"/>
          </a:xfrm>
          <a:prstGeom prst="roundRect">
            <a:avLst>
              <a:gd name="adj" fmla="val 4000"/>
            </a:avLst>
          </a:prstGeom>
          <a:solidFill>
            <a:srgbClr val="121216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3794760"/>
            <a:ext cx="475488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500" b="1">
                <a:solidFill>
                  <a:srgbClr val="FAFAFA"/>
                </a:solidFill>
                <a:latin typeface="Arial"/>
              </a:rPr>
              <a:t>108-Byte Packed Manifest (AQM1)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206240"/>
            <a:ext cx="4754880" cy="17373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150" b="0">
                <a:solidFill>
                  <a:srgbClr val="A1A1AA"/>
                </a:solidFill>
                <a:latin typeface="Courier New"/>
              </a:rPr>
              <a:t>• target_id[16]: 'ESP32-ECU-GW' (prevents cross-ECU flashing)
• version[16] &amp; uint32 security_version (checked against NVS 0x9000)
• 3 x 8-Byte Pinned Public Key IDs (SHA3-256(pk)[:8])
• 32-Byte FIPS 202 SHA3-256 Digest of the firmware binary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3611880"/>
            <a:ext cx="5242255" cy="2514600"/>
          </a:xfrm>
          <a:prstGeom prst="roundRect">
            <a:avLst>
              <a:gd name="adj" fmla="val 4000"/>
            </a:avLst>
          </a:prstGeom>
          <a:solidFill>
            <a:srgbClr val="121216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3794760"/>
            <a:ext cx="475488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500" b="1">
                <a:solidFill>
                  <a:srgbClr val="FAFAFA"/>
                </a:solidFill>
                <a:latin typeface="Arial"/>
              </a:rPr>
              <a:t>Lockstep 4,096-Byte Chunk Handshake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206240"/>
            <a:ext cx="4754880" cy="17373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150" b="0">
                <a:solidFill>
                  <a:srgbClr val="A1A1AA"/>
                </a:solidFill>
                <a:latin typeface="Arial"/>
              </a:rPr>
              <a:t>1. Host sends 3,262 B header; ECU verifies all 3 signatures in RAM.
2. Only after 3/3 pass does ECU erase inactive slot &amp; emit 'AQ:SEND'.
3. Host streams 4,096 B chunks; each is acked with 'AQ:ACK &lt;bytes&gt;'.
4. Final streaming SHA3-256 digest is matched before A/B boot swap.</a:t>
            </a:r>
          </a:p>
        </p:txBody>
      </p:sp>
    </p:spTree>
  </p:cSld>
  <p:clrMapOvr>
    <a:masterClrMapping/>
  </p:clrMapOvr>
  <p:transition xmlns:p14="http://schemas.microsoft.com/office/powerpoint/2010/main" xmlns:p159="http://schemas.microsoft.com/office/powerpoint/2015/09/main" spd="med" advClick="1">
    <p:extLst>
      <p:ext uri="{D58B2C81-2181-4053-9C46-7B19A82C0B36}">
        <p14:transition dur="900"/>
      </p:ext>
      <p:ext uri="{39408819-310E-4349-B0A4-A211590E3C66}">
        <p159:morph option="byObject"/>
      </p:ext>
    </p:extLst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top_rail"/>
          <p:cNvSpPr/>
          <p:nvPr/>
        </p:nvSpPr>
        <p:spPr>
          <a:xfrm>
            <a:off x="731520" y="411480"/>
            <a:ext cx="10728655" cy="27432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top_progress"/>
          <p:cNvSpPr/>
          <p:nvPr/>
        </p:nvSpPr>
        <p:spPr>
          <a:xfrm>
            <a:off x="731520" y="411480"/>
            <a:ext cx="5364327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sec_tag"/>
          <p:cNvSpPr txBox="1"/>
          <p:nvPr/>
        </p:nvSpPr>
        <p:spPr>
          <a:xfrm>
            <a:off x="731520" y="566928"/>
            <a:ext cx="548640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Courier New"/>
              </a:rPr>
              <a:t>04 // VERIFICATION PIPELINE TREE</a:t>
            </a:r>
          </a:p>
        </p:txBody>
      </p:sp>
      <p:sp>
        <p:nvSpPr>
          <p:cNvPr id="5" name="!!sec_title"/>
          <p:cNvSpPr txBox="1"/>
          <p:nvPr/>
        </p:nvSpPr>
        <p:spPr>
          <a:xfrm>
            <a:off x="731520" y="841248"/>
            <a:ext cx="8686800" cy="5943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800" b="1">
                <a:solidFill>
                  <a:srgbClr val="FAFAFA"/>
                </a:solidFill>
                <a:latin typeface="Arial"/>
              </a:rPr>
              <a:t>Five Hardware Gates Before Partition Activation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89888"/>
            <a:ext cx="960120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300" b="0">
                <a:solidFill>
                  <a:srgbClr val="A1A1AA"/>
                </a:solidFill>
                <a:latin typeface="Arial"/>
              </a:rPr>
              <a:t>Zero-fallback invariant: a single failed gate halts execution and retains the active golden partition.</a:t>
            </a:r>
          </a:p>
        </p:txBody>
      </p:sp>
      <p:sp>
        <p:nvSpPr>
          <p:cNvPr id="7" name="!!brand_corner"/>
          <p:cNvSpPr txBox="1"/>
          <p:nvPr/>
        </p:nvSpPr>
        <p:spPr>
          <a:xfrm>
            <a:off x="9875520" y="566928"/>
            <a:ext cx="1584655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1000" b="0">
                <a:solidFill>
                  <a:srgbClr val="71717A"/>
                </a:solidFill>
                <a:latin typeface="Courier New"/>
              </a:rPr>
              <a:t>AutoQrpt · PQC-02</a:t>
            </a:r>
          </a:p>
        </p:txBody>
      </p:sp>
      <p:sp>
        <p:nvSpPr>
          <p:cNvPr id="8" name="!!gate_01"/>
          <p:cNvSpPr/>
          <p:nvPr/>
        </p:nvSpPr>
        <p:spPr>
          <a:xfrm>
            <a:off x="731520" y="3108960"/>
            <a:ext cx="1828800" cy="1097280"/>
          </a:xfrm>
          <a:prstGeom prst="roundRect">
            <a:avLst>
              <a:gd name="adj" fmla="val 4000"/>
            </a:avLst>
          </a:prstGeom>
          <a:solidFill>
            <a:srgbClr val="18181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246120"/>
            <a:ext cx="15544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950" b="1">
                <a:solidFill>
                  <a:srgbClr val="38BDF8"/>
                </a:solidFill>
                <a:latin typeface="Courier New"/>
              </a:rPr>
              <a:t>GATE 01 · HEADER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20440"/>
            <a:ext cx="155448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FAFAFA"/>
                </a:solidFill>
                <a:latin typeface="Arial"/>
              </a:rPr>
              <a:t>AQPK Magic
Target &amp; Key IDs</a:t>
            </a:r>
          </a:p>
        </p:txBody>
      </p:sp>
      <p:sp>
        <p:nvSpPr>
          <p:cNvPr id="11" name="!!gate_02"/>
          <p:cNvSpPr/>
          <p:nvPr/>
        </p:nvSpPr>
        <p:spPr>
          <a:xfrm>
            <a:off x="2926080" y="3108960"/>
            <a:ext cx="1828800" cy="1097280"/>
          </a:xfrm>
          <a:prstGeom prst="roundRect">
            <a:avLst>
              <a:gd name="adj" fmla="val 4000"/>
            </a:avLst>
          </a:prstGeom>
          <a:solidFill>
            <a:srgbClr val="1818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40" y="3246120"/>
            <a:ext cx="15544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950" b="1">
                <a:solidFill>
                  <a:srgbClr val="10B981"/>
                </a:solidFill>
                <a:latin typeface="Courier New"/>
              </a:rPr>
              <a:t>GATE 02 · NVS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3520440"/>
            <a:ext cx="155448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FAFAFA"/>
                </a:solidFill>
                <a:latin typeface="Arial"/>
              </a:rPr>
              <a:t>Anti-Rollback
SV &gt; Installed</a:t>
            </a:r>
          </a:p>
        </p:txBody>
      </p:sp>
      <p:sp>
        <p:nvSpPr>
          <p:cNvPr id="14" name="!!gate_03"/>
          <p:cNvSpPr/>
          <p:nvPr/>
        </p:nvSpPr>
        <p:spPr>
          <a:xfrm>
            <a:off x="5166360" y="2148840"/>
            <a:ext cx="2148840" cy="1143000"/>
          </a:xfrm>
          <a:prstGeom prst="roundRect">
            <a:avLst>
              <a:gd name="adj" fmla="val 4000"/>
            </a:avLst>
          </a:prstGeom>
          <a:solidFill>
            <a:srgbClr val="18181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2286000"/>
            <a:ext cx="1874519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950" b="1">
                <a:solidFill>
                  <a:srgbClr val="38BDF8"/>
                </a:solidFill>
                <a:latin typeface="Courier New"/>
              </a:rPr>
              <a:t>GATE 03 · DIRECTOR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560320"/>
            <a:ext cx="1874519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FAFAFA"/>
                </a:solidFill>
                <a:latin typeface="Arial"/>
              </a:rPr>
              <a:t>Falcon-512 Verify
4.9 ms · 5.1 KB Stack</a:t>
            </a:r>
          </a:p>
        </p:txBody>
      </p:sp>
      <p:sp>
        <p:nvSpPr>
          <p:cNvPr id="17" name="!!gate_04"/>
          <p:cNvSpPr/>
          <p:nvPr/>
        </p:nvSpPr>
        <p:spPr>
          <a:xfrm>
            <a:off x="5166360" y="4023360"/>
            <a:ext cx="2148840" cy="1143000"/>
          </a:xfrm>
          <a:prstGeom prst="roundRect">
            <a:avLst>
              <a:gd name="adj" fmla="val 4000"/>
            </a:avLst>
          </a:prstGeom>
          <a:solidFill>
            <a:srgbClr val="1818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0" y="4160520"/>
            <a:ext cx="1874519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950" b="1">
                <a:solidFill>
                  <a:srgbClr val="10B981"/>
                </a:solidFill>
                <a:latin typeface="Courier New"/>
              </a:rPr>
              <a:t>GATE 04 · OEM 2FA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434840"/>
            <a:ext cx="1874519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FAFAFA"/>
                </a:solidFill>
                <a:latin typeface="Arial"/>
              </a:rPr>
              <a:t>ML-DSA-44 + Ed25519
17.7 ms + 34.0 ms</a:t>
            </a:r>
          </a:p>
        </p:txBody>
      </p:sp>
      <p:sp>
        <p:nvSpPr>
          <p:cNvPr id="20" name="!!gate_05"/>
          <p:cNvSpPr/>
          <p:nvPr/>
        </p:nvSpPr>
        <p:spPr>
          <a:xfrm>
            <a:off x="7680960" y="3108960"/>
            <a:ext cx="1874519" cy="1097280"/>
          </a:xfrm>
          <a:prstGeom prst="roundRect">
            <a:avLst>
              <a:gd name="adj" fmla="val 4000"/>
            </a:avLst>
          </a:prstGeom>
          <a:solidFill>
            <a:srgbClr val="18181E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18120" y="3246120"/>
            <a:ext cx="1600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950" b="1">
                <a:solidFill>
                  <a:srgbClr val="A855F7"/>
                </a:solidFill>
                <a:latin typeface="Courier New"/>
              </a:rPr>
              <a:t>GATE 05 · COMMIT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3520440"/>
            <a:ext cx="160020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FAFAFA"/>
                </a:solidFill>
                <a:latin typeface="Arial"/>
              </a:rPr>
              <a:t>SHA3-256 Stream
14.8 ms · 0 B Heap</a:t>
            </a:r>
          </a:p>
        </p:txBody>
      </p:sp>
      <p:sp>
        <p:nvSpPr>
          <p:cNvPr id="23" name="!!out_accept"/>
          <p:cNvSpPr/>
          <p:nvPr/>
        </p:nvSpPr>
        <p:spPr>
          <a:xfrm>
            <a:off x="9875520" y="2240280"/>
            <a:ext cx="1584655" cy="1051560"/>
          </a:xfrm>
          <a:prstGeom prst="roundRect">
            <a:avLst>
              <a:gd name="adj" fmla="val 4000"/>
            </a:avLst>
          </a:prstGeom>
          <a:solidFill>
            <a:srgbClr val="12121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0" y="2377440"/>
            <a:ext cx="1399032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950" b="1">
                <a:solidFill>
                  <a:srgbClr val="10B981"/>
                </a:solidFill>
                <a:latin typeface="Courier New"/>
              </a:rPr>
              <a:t>ALL PASS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2651760"/>
            <a:ext cx="1399032" cy="5029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150" b="1">
                <a:solidFill>
                  <a:srgbClr val="FAFAFA"/>
                </a:solidFill>
                <a:latin typeface="Arial"/>
              </a:rPr>
              <a:t>Activate Slot B
(ota_1)</a:t>
            </a:r>
          </a:p>
        </p:txBody>
      </p:sp>
      <p:sp>
        <p:nvSpPr>
          <p:cNvPr id="26" name="!!out_reject"/>
          <p:cNvSpPr/>
          <p:nvPr/>
        </p:nvSpPr>
        <p:spPr>
          <a:xfrm>
            <a:off x="9875520" y="4023360"/>
            <a:ext cx="1584655" cy="1051560"/>
          </a:xfrm>
          <a:prstGeom prst="roundRect">
            <a:avLst>
              <a:gd name="adj" fmla="val 4000"/>
            </a:avLst>
          </a:prstGeom>
          <a:solidFill>
            <a:srgbClr val="121216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60" y="4160520"/>
            <a:ext cx="1399032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950" b="1">
                <a:solidFill>
                  <a:srgbClr val="EF4444"/>
                </a:solidFill>
                <a:latin typeface="Courier New"/>
              </a:rPr>
              <a:t>ANY FAIL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4434840"/>
            <a:ext cx="1399032" cy="5029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150" b="1">
                <a:solidFill>
                  <a:srgbClr val="FAFAFA"/>
                </a:solidFill>
                <a:latin typeface="Arial"/>
              </a:rPr>
              <a:t>Retain Slot A
(Zero Downtime)</a:t>
            </a:r>
          </a:p>
        </p:txBody>
      </p:sp>
    </p:spTree>
  </p:cSld>
  <p:clrMapOvr>
    <a:masterClrMapping/>
  </p:clrMapOvr>
  <p:transition xmlns:p14="http://schemas.microsoft.com/office/powerpoint/2010/main" xmlns:p159="http://schemas.microsoft.com/office/powerpoint/2015/09/main" spd="med" advClick="1">
    <p:extLst>
      <p:ext uri="{D58B2C81-2181-4053-9C46-7B19A82C0B36}">
        <p14:transition dur="900"/>
      </p:ext>
      <p:ext uri="{39408819-310E-4349-B0A4-A211590E3C66}">
        <p159:morph option="byObject"/>
      </p:ext>
    </p:extLst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top_rail"/>
          <p:cNvSpPr/>
          <p:nvPr/>
        </p:nvSpPr>
        <p:spPr>
          <a:xfrm>
            <a:off x="731520" y="411480"/>
            <a:ext cx="10728655" cy="27432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top_progress"/>
          <p:cNvSpPr/>
          <p:nvPr/>
        </p:nvSpPr>
        <p:spPr>
          <a:xfrm>
            <a:off x="731520" y="411480"/>
            <a:ext cx="6705409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sec_tag"/>
          <p:cNvSpPr txBox="1"/>
          <p:nvPr/>
        </p:nvSpPr>
        <p:spPr>
          <a:xfrm>
            <a:off x="731520" y="566928"/>
            <a:ext cx="548640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Courier New"/>
              </a:rPr>
              <a:t>05 // PHYSICAL HARDWARE BENCHMARKS</a:t>
            </a:r>
          </a:p>
        </p:txBody>
      </p:sp>
      <p:sp>
        <p:nvSpPr>
          <p:cNvPr id="5" name="!!sec_title"/>
          <p:cNvSpPr txBox="1"/>
          <p:nvPr/>
        </p:nvSpPr>
        <p:spPr>
          <a:xfrm>
            <a:off x="731520" y="841248"/>
            <a:ext cx="8686800" cy="5943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800" b="1">
                <a:solidFill>
                  <a:srgbClr val="FAFAFA"/>
                </a:solidFill>
                <a:latin typeface="Arial"/>
              </a:rPr>
              <a:t>Measured on ESP32-LX6 Silicon (240 MHz, 520 KB SRAM)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89888"/>
            <a:ext cx="960120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300" b="0">
                <a:solidFill>
                  <a:srgbClr val="A1A1AA"/>
                </a:solidFill>
                <a:latin typeface="Arial"/>
              </a:rPr>
              <a:t>Captured over USB-UART (COM7 @ 921600 baud) using esp_cpu_get_cycle_count() and uxTaskGetStackHighWaterMark().</a:t>
            </a:r>
          </a:p>
        </p:txBody>
      </p:sp>
      <p:sp>
        <p:nvSpPr>
          <p:cNvPr id="7" name="!!brand_corner"/>
          <p:cNvSpPr txBox="1"/>
          <p:nvPr/>
        </p:nvSpPr>
        <p:spPr>
          <a:xfrm>
            <a:off x="9875520" y="566928"/>
            <a:ext cx="1584655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1000" b="0">
                <a:solidFill>
                  <a:srgbClr val="71717A"/>
                </a:solidFill>
                <a:latin typeface="Courier New"/>
              </a:rPr>
              <a:t>AutoQrpt · PQC-02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6583680" cy="4023360"/>
          </a:xfrm>
          <a:prstGeom prst="roundRect">
            <a:avLst>
              <a:gd name="adj" fmla="val 4000"/>
            </a:avLst>
          </a:prstGeom>
          <a:solidFill>
            <a:srgbClr val="121216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603504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400" b="1">
                <a:solidFill>
                  <a:srgbClr val="FAFAFA"/>
                </a:solidFill>
                <a:latin typeface="Arial"/>
              </a:rPr>
              <a:t>Cryptographic Verification Latency (10-Run Hardware Median)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80360"/>
            <a:ext cx="29260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100" b="1">
                <a:solidFill>
                  <a:srgbClr val="FAFAFA"/>
                </a:solidFill>
                <a:latin typeface="Arial"/>
              </a:rPr>
              <a:t>Falcon-512 Director Verify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880360"/>
            <a:ext cx="310896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1000" b="0">
                <a:solidFill>
                  <a:srgbClr val="A1A1AA"/>
                </a:solidFill>
                <a:latin typeface="Courier New"/>
              </a:rPr>
              <a:t>4.9 ms  (4,914 us · 5,100 B stack)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3172968"/>
            <a:ext cx="6035040" cy="201168"/>
          </a:xfrm>
          <a:prstGeom prst="roundRect">
            <a:avLst>
              <a:gd name="adj" fmla="val 4000"/>
            </a:avLst>
          </a:prstGeom>
          <a:solidFill>
            <a:srgbClr val="18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05840" y="3172968"/>
            <a:ext cx="868680" cy="201168"/>
          </a:xfrm>
          <a:prstGeom prst="roundRect">
            <a:avLst>
              <a:gd name="adj" fmla="val 4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657600"/>
            <a:ext cx="29260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100" b="1">
                <a:solidFill>
                  <a:srgbClr val="FAFAFA"/>
                </a:solidFill>
                <a:latin typeface="Arial"/>
              </a:rPr>
              <a:t>SHA3-256 Streaming Digest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657600"/>
            <a:ext cx="310896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1000" b="0">
                <a:solidFill>
                  <a:srgbClr val="A1A1AA"/>
                </a:solidFill>
                <a:latin typeface="Courier New"/>
              </a:rPr>
              <a:t>14.8 ms (Streamed · 0 B heap)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3950208"/>
            <a:ext cx="6035040" cy="201168"/>
          </a:xfrm>
          <a:prstGeom prst="roundRect">
            <a:avLst>
              <a:gd name="adj" fmla="val 4000"/>
            </a:avLst>
          </a:prstGeom>
          <a:solidFill>
            <a:srgbClr val="18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05840" y="3950208"/>
            <a:ext cx="2514600" cy="201168"/>
          </a:xfrm>
          <a:prstGeom prst="roundRect">
            <a:avLst>
              <a:gd name="adj" fmla="val 400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434840"/>
            <a:ext cx="29260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100" b="1">
                <a:solidFill>
                  <a:srgbClr val="FAFAFA"/>
                </a:solidFill>
                <a:latin typeface="Arial"/>
              </a:rPr>
              <a:t>ML-DSA-44 Image Verify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4434840"/>
            <a:ext cx="310896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1000" b="0">
                <a:solidFill>
                  <a:srgbClr val="A1A1AA"/>
                </a:solidFill>
                <a:latin typeface="Courier New"/>
              </a:rPr>
              <a:t>17.7 ms (17,657 us · 36,496 B stack)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4727448"/>
            <a:ext cx="6035040" cy="201168"/>
          </a:xfrm>
          <a:prstGeom prst="roundRect">
            <a:avLst>
              <a:gd name="adj" fmla="val 4000"/>
            </a:avLst>
          </a:prstGeom>
          <a:solidFill>
            <a:srgbClr val="18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05840" y="4727448"/>
            <a:ext cx="3017520" cy="201168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212079"/>
            <a:ext cx="29260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100" b="1">
                <a:solidFill>
                  <a:srgbClr val="FAFAFA"/>
                </a:solidFill>
                <a:latin typeface="Arial"/>
              </a:rPr>
              <a:t>Ed25519 Classical Verify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5212079"/>
            <a:ext cx="310896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1000" b="0">
                <a:solidFill>
                  <a:srgbClr val="A1A1AA"/>
                </a:solidFill>
                <a:latin typeface="Courier New"/>
              </a:rPr>
              <a:t>34.0 ms (33,978 us · 2,304 B stack)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" y="5504688"/>
            <a:ext cx="6035040" cy="201168"/>
          </a:xfrm>
          <a:prstGeom prst="roundRect">
            <a:avLst>
              <a:gd name="adj" fmla="val 4000"/>
            </a:avLst>
          </a:prstGeom>
          <a:solidFill>
            <a:srgbClr val="18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05840" y="5504688"/>
            <a:ext cx="5760720" cy="201168"/>
          </a:xfrm>
          <a:prstGeom prst="roundRect">
            <a:avLst>
              <a:gd name="adj" fmla="val 4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!!card_m_mldsa"/>
          <p:cNvSpPr/>
          <p:nvPr/>
        </p:nvSpPr>
        <p:spPr>
          <a:xfrm>
            <a:off x="7589520" y="2103120"/>
            <a:ext cx="3870655" cy="1243584"/>
          </a:xfrm>
          <a:prstGeom prst="roundRect">
            <a:avLst>
              <a:gd name="adj" fmla="val 4000"/>
            </a:avLst>
          </a:prstGeom>
          <a:solidFill>
            <a:srgbClr val="121216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!!val_m_mldsa"/>
          <p:cNvSpPr txBox="1"/>
          <p:nvPr/>
        </p:nvSpPr>
        <p:spPr>
          <a:xfrm>
            <a:off x="7818120" y="2240279"/>
            <a:ext cx="338328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200" b="1">
                <a:solidFill>
                  <a:srgbClr val="10B981"/>
                </a:solidFill>
                <a:latin typeface="Courier New"/>
              </a:rPr>
              <a:t>17.7 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2697479"/>
            <a:ext cx="33832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150" b="1">
                <a:solidFill>
                  <a:srgbClr val="FAFAFA"/>
                </a:solidFill>
                <a:latin typeface="Arial"/>
              </a:rPr>
              <a:t>ML-DSA-44 is 2x Faster than Ed25519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2971800"/>
            <a:ext cx="33832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950" b="0">
                <a:solidFill>
                  <a:srgbClr val="71717A"/>
                </a:solidFill>
                <a:latin typeface="Courier New"/>
              </a:rPr>
              <a:t>4,248,000 clock cycles on Xtensa LX6</a:t>
            </a:r>
          </a:p>
        </p:txBody>
      </p:sp>
      <p:sp>
        <p:nvSpPr>
          <p:cNvPr id="30" name="!!card_m_stack"/>
          <p:cNvSpPr/>
          <p:nvPr/>
        </p:nvSpPr>
        <p:spPr>
          <a:xfrm>
            <a:off x="7589520" y="3493008"/>
            <a:ext cx="3870655" cy="1243584"/>
          </a:xfrm>
          <a:prstGeom prst="roundRect">
            <a:avLst>
              <a:gd name="adj" fmla="val 4000"/>
            </a:avLst>
          </a:prstGeom>
          <a:solidFill>
            <a:srgbClr val="121216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!!val_m_stack"/>
          <p:cNvSpPr txBox="1"/>
          <p:nvPr/>
        </p:nvSpPr>
        <p:spPr>
          <a:xfrm>
            <a:off x="7818120" y="3630168"/>
            <a:ext cx="338328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200" b="1">
                <a:solidFill>
                  <a:srgbClr val="38BDF8"/>
                </a:solidFill>
                <a:latin typeface="Courier New"/>
              </a:rPr>
              <a:t>36,496 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120" y="4087368"/>
            <a:ext cx="33832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150" b="1">
                <a:solidFill>
                  <a:srgbClr val="FAFAFA"/>
                </a:solidFill>
                <a:latin typeface="Arial"/>
              </a:rPr>
              <a:t>6.85% of 520 KB SRAM Budget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4361688"/>
            <a:ext cx="33832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950" b="0">
                <a:solidFill>
                  <a:srgbClr val="71717A"/>
                </a:solidFill>
                <a:latin typeface="Courier New"/>
              </a:rPr>
              <a:t>483.5 KB SRAM remains free for ADAS/RTOS</a:t>
            </a:r>
          </a:p>
        </p:txBody>
      </p:sp>
      <p:sp>
        <p:nvSpPr>
          <p:cNvPr id="34" name="!!card_m_falcon"/>
          <p:cNvSpPr/>
          <p:nvPr/>
        </p:nvSpPr>
        <p:spPr>
          <a:xfrm>
            <a:off x="7589520" y="4882896"/>
            <a:ext cx="3870655" cy="1243584"/>
          </a:xfrm>
          <a:prstGeom prst="roundRect">
            <a:avLst>
              <a:gd name="adj" fmla="val 4000"/>
            </a:avLst>
          </a:prstGeom>
          <a:solidFill>
            <a:srgbClr val="121216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!!val_m_falcon"/>
          <p:cNvSpPr txBox="1"/>
          <p:nvPr/>
        </p:nvSpPr>
        <p:spPr>
          <a:xfrm>
            <a:off x="7818120" y="5020056"/>
            <a:ext cx="338328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200" b="1">
                <a:solidFill>
                  <a:srgbClr val="F59E0B"/>
                </a:solidFill>
                <a:latin typeface="Courier New"/>
              </a:rPr>
              <a:t>51 Frames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8120" y="5477256"/>
            <a:ext cx="33832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150" b="1">
                <a:solidFill>
                  <a:srgbClr val="FAFAFA"/>
                </a:solidFill>
                <a:latin typeface="Arial"/>
              </a:rPr>
              <a:t>Complete 3,262 B Header on CAN-FD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8120" y="5751576"/>
            <a:ext cx="33832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950" b="0">
                <a:solidFill>
                  <a:srgbClr val="71717A"/>
                </a:solidFill>
                <a:latin typeface="Courier New"/>
              </a:rPr>
              <a:t>38 ML-DSA + 11 Falcon + 1 Ed25519 + 1 AQM1</a:t>
            </a:r>
          </a:p>
        </p:txBody>
      </p:sp>
    </p:spTree>
  </p:cSld>
  <p:clrMapOvr>
    <a:masterClrMapping/>
  </p:clrMapOvr>
  <p:transition xmlns:p14="http://schemas.microsoft.com/office/powerpoint/2010/main" xmlns:p159="http://schemas.microsoft.com/office/powerpoint/2015/09/main" spd="med" advClick="1">
    <p:extLst>
      <p:ext uri="{D58B2C81-2181-4053-9C46-7B19A82C0B36}">
        <p14:transition dur="900"/>
      </p:ext>
      <p:ext uri="{39408819-310E-4349-B0A4-A211590E3C66}">
        <p159:morph option="byObject"/>
      </p:ext>
    </p:extLst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top_rail"/>
          <p:cNvSpPr/>
          <p:nvPr/>
        </p:nvSpPr>
        <p:spPr>
          <a:xfrm>
            <a:off x="731520" y="411480"/>
            <a:ext cx="10728655" cy="27432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top_progress"/>
          <p:cNvSpPr/>
          <p:nvPr/>
        </p:nvSpPr>
        <p:spPr>
          <a:xfrm>
            <a:off x="731520" y="411480"/>
            <a:ext cx="8046491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sec_tag"/>
          <p:cNvSpPr txBox="1"/>
          <p:nvPr/>
        </p:nvSpPr>
        <p:spPr>
          <a:xfrm>
            <a:off x="731520" y="566928"/>
            <a:ext cx="548640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Courier New"/>
              </a:rPr>
              <a:t>06 // ADVERSARIAL ISOLATION</a:t>
            </a:r>
          </a:p>
        </p:txBody>
      </p:sp>
      <p:sp>
        <p:nvSpPr>
          <p:cNvPr id="5" name="!!sec_title"/>
          <p:cNvSpPr txBox="1"/>
          <p:nvPr/>
        </p:nvSpPr>
        <p:spPr>
          <a:xfrm>
            <a:off x="731520" y="841248"/>
            <a:ext cx="8686800" cy="5943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800" b="1">
                <a:solidFill>
                  <a:srgbClr val="FAFAFA"/>
                </a:solidFill>
                <a:latin typeface="Arial"/>
              </a:rPr>
              <a:t>17/17 Hardware-in-the-Loop Attack Vectors Blocked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89888"/>
            <a:ext cx="960120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300" b="0">
                <a:solidFill>
                  <a:srgbClr val="A1A1AA"/>
                </a:solidFill>
                <a:latin typeface="Arial"/>
              </a:rPr>
              <a:t>Every rejected package leaves the active running slot (ota_0) 100% unchanged.</a:t>
            </a:r>
          </a:p>
        </p:txBody>
      </p:sp>
      <p:sp>
        <p:nvSpPr>
          <p:cNvPr id="7" name="!!brand_corner"/>
          <p:cNvSpPr txBox="1"/>
          <p:nvPr/>
        </p:nvSpPr>
        <p:spPr>
          <a:xfrm>
            <a:off x="9875520" y="566928"/>
            <a:ext cx="1584655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1000" b="0">
                <a:solidFill>
                  <a:srgbClr val="71717A"/>
                </a:solidFill>
                <a:latin typeface="Courier New"/>
              </a:rPr>
              <a:t>AutoQrpt · PQC-02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57400"/>
            <a:ext cx="10728655" cy="603504"/>
          </a:xfrm>
          <a:prstGeom prst="roundRect">
            <a:avLst>
              <a:gd name="adj" fmla="val 4000"/>
            </a:avLst>
          </a:prstGeom>
          <a:solidFill>
            <a:srgbClr val="121216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21992"/>
            <a:ext cx="33832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1">
                <a:solidFill>
                  <a:srgbClr val="FAFAFA"/>
                </a:solidFill>
                <a:latin typeface="Courier New"/>
              </a:rPr>
              <a:t>01_genuine_oem_release_v2.0.aqpk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221992"/>
            <a:ext cx="301752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100" b="0">
                <a:solidFill>
                  <a:srgbClr val="A1A1AA"/>
                </a:solidFill>
                <a:latin typeface="Arial"/>
              </a:rPr>
              <a:t>Valid OEM Dual-Signed Update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221992"/>
            <a:ext cx="237744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950" b="0">
                <a:solidFill>
                  <a:srgbClr val="10B981"/>
                </a:solidFill>
                <a:latin typeface="Courier New"/>
              </a:rPr>
              <a:t>ALL_CHECKS_PASSED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21240" y="2221992"/>
            <a:ext cx="13716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  <a:latin typeface="Courier New"/>
              </a:rPr>
              <a:t>ACCEPT -&gt; ota_1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752344"/>
            <a:ext cx="10728655" cy="603504"/>
          </a:xfrm>
          <a:prstGeom prst="roundRect">
            <a:avLst>
              <a:gd name="adj" fmla="val 4000"/>
            </a:avLst>
          </a:prstGeom>
          <a:solidFill>
            <a:srgbClr val="121216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916936"/>
            <a:ext cx="33832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1">
                <a:solidFill>
                  <a:srgbClr val="FAFAFA"/>
                </a:solidFill>
                <a:latin typeface="Courier New"/>
              </a:rPr>
              <a:t>02_faulty_release_v3.0_boot_crash.aqpk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916936"/>
            <a:ext cx="301752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100" b="0">
                <a:solidFill>
                  <a:srgbClr val="A1A1AA"/>
                </a:solidFill>
                <a:latin typeface="Arial"/>
              </a:rPr>
              <a:t>Valid Signatures, Crashes on First Boot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2916936"/>
            <a:ext cx="237744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950" b="0">
                <a:solidFill>
                  <a:srgbClr val="F59E0B"/>
                </a:solidFill>
                <a:latin typeface="Courier New"/>
              </a:rPr>
              <a:t>BOOTLOADER_ROLLBACK_FROM_v3.0.0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21240" y="2916936"/>
            <a:ext cx="13716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1000" b="1">
                <a:solidFill>
                  <a:srgbClr val="F59E0B"/>
                </a:solidFill>
                <a:latin typeface="Courier New"/>
              </a:rPr>
              <a:t>AUTO ROLLBACK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447288"/>
            <a:ext cx="10728655" cy="603504"/>
          </a:xfrm>
          <a:prstGeom prst="roundRect">
            <a:avLst>
              <a:gd name="adj" fmla="val 4000"/>
            </a:avLst>
          </a:prstGeom>
          <a:solidFill>
            <a:srgbClr val="121216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611880"/>
            <a:ext cx="33832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1">
                <a:solidFill>
                  <a:srgbClr val="FAFAFA"/>
                </a:solidFill>
                <a:latin typeface="Courier New"/>
              </a:rPr>
              <a:t>03_tampered_firmware_bitflip.aqpk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611880"/>
            <a:ext cx="301752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100" b="0">
                <a:solidFill>
                  <a:srgbClr val="A1A1AA"/>
                </a:solidFill>
                <a:latin typeface="Arial"/>
              </a:rPr>
              <a:t>1 Bit Flipped in 274 KB Payload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3611880"/>
            <a:ext cx="237744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950" b="0">
                <a:solidFill>
                  <a:srgbClr val="EF4444"/>
                </a:solidFill>
                <a:latin typeface="Courier New"/>
              </a:rPr>
              <a:t>IMAGE_DIGEST_MISMATCH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3611880"/>
            <a:ext cx="13716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1000" b="1">
                <a:solidFill>
                  <a:srgbClr val="EF4444"/>
                </a:solidFill>
                <a:latin typeface="Courier New"/>
              </a:rPr>
              <a:t>REJECT (Gate 05)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142232"/>
            <a:ext cx="10728655" cy="603504"/>
          </a:xfrm>
          <a:prstGeom prst="roundRect">
            <a:avLst>
              <a:gd name="adj" fmla="val 4000"/>
            </a:avLst>
          </a:prstGeom>
          <a:solidFill>
            <a:srgbClr val="121216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306824"/>
            <a:ext cx="33832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1">
                <a:solidFill>
                  <a:srgbClr val="FAFAFA"/>
                </a:solidFill>
                <a:latin typeface="Courier New"/>
              </a:rPr>
              <a:t>04_forged_mldsa44_quantum_attack.aqpk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306824"/>
            <a:ext cx="301752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100" b="0">
                <a:solidFill>
                  <a:srgbClr val="A1A1AA"/>
                </a:solidFill>
                <a:latin typeface="Arial"/>
              </a:rPr>
              <a:t>Signed with Rogue Attacker ML-DSA-44 Key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4306824"/>
            <a:ext cx="237744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950" b="0">
                <a:solidFill>
                  <a:srgbClr val="EF4444"/>
                </a:solidFill>
                <a:latin typeface="Courier New"/>
              </a:rPr>
              <a:t>IMAGE_MLDSA44_SIGNATURE_INVALID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1240" y="4306824"/>
            <a:ext cx="13716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1000" b="1">
                <a:solidFill>
                  <a:srgbClr val="EF4444"/>
                </a:solidFill>
                <a:latin typeface="Courier New"/>
              </a:rPr>
              <a:t>REJECT (Gate 04)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837176"/>
            <a:ext cx="10728655" cy="603504"/>
          </a:xfrm>
          <a:prstGeom prst="roundRect">
            <a:avLst>
              <a:gd name="adj" fmla="val 4000"/>
            </a:avLst>
          </a:prstGeom>
          <a:solidFill>
            <a:srgbClr val="121216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001768"/>
            <a:ext cx="33832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1">
                <a:solidFill>
                  <a:srgbClr val="FAFAFA"/>
                </a:solidFill>
                <a:latin typeface="Courier New"/>
              </a:rPr>
              <a:t>05_downgrade_replay_v1.0.0.aqpk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5001768"/>
            <a:ext cx="301752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100" b="0">
                <a:solidFill>
                  <a:srgbClr val="A1A1AA"/>
                </a:solidFill>
                <a:latin typeface="Arial"/>
              </a:rPr>
              <a:t>Validly Signed Older v1.0.0 Replayed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5001768"/>
            <a:ext cx="237744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950" b="0">
                <a:solidFill>
                  <a:srgbClr val="EF4444"/>
                </a:solidFill>
                <a:latin typeface="Courier New"/>
              </a:rPr>
              <a:t>ROLLBACK_ATTACK_DETECTED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21240" y="5001768"/>
            <a:ext cx="13716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1000" b="1">
                <a:solidFill>
                  <a:srgbClr val="EF4444"/>
                </a:solidFill>
                <a:latin typeface="Courier New"/>
              </a:rPr>
              <a:t>REJECT (Gate 02)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532120"/>
            <a:ext cx="10728655" cy="603504"/>
          </a:xfrm>
          <a:prstGeom prst="roundRect">
            <a:avLst>
              <a:gd name="adj" fmla="val 4000"/>
            </a:avLst>
          </a:prstGeom>
          <a:solidFill>
            <a:srgbClr val="121216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696712"/>
            <a:ext cx="33832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1">
                <a:solidFill>
                  <a:srgbClr val="FAFAFA"/>
                </a:solidFill>
                <a:latin typeface="Courier New"/>
              </a:rPr>
              <a:t>06_wrong_vehicle_VEH2_target.aqpk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696712"/>
            <a:ext cx="301752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100" b="0">
                <a:solidFill>
                  <a:srgbClr val="A1A1AA"/>
                </a:solidFill>
                <a:latin typeface="Arial"/>
              </a:rPr>
              <a:t>Valid Director Auth, Targeted for VEH-2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5696712"/>
            <a:ext cx="237744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950" b="0">
                <a:solidFill>
                  <a:srgbClr val="EF4444"/>
                </a:solidFill>
                <a:latin typeface="Courier New"/>
              </a:rPr>
              <a:t>DIRECTOR_FALCON512_SIGNATURE_INVALID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21240" y="5696712"/>
            <a:ext cx="13716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1000" b="1">
                <a:solidFill>
                  <a:srgbClr val="EF4444"/>
                </a:solidFill>
                <a:latin typeface="Courier New"/>
              </a:rPr>
              <a:t>REJECT (Gate 03)</a:t>
            </a:r>
          </a:p>
        </p:txBody>
      </p:sp>
    </p:spTree>
  </p:cSld>
  <p:clrMapOvr>
    <a:masterClrMapping/>
  </p:clrMapOvr>
  <p:transition xmlns:p14="http://schemas.microsoft.com/office/powerpoint/2010/main" spd="med" advClick="1">
    <p:push dir="l"/>
    <p:extLst>
      <p:ext uri="{D58B2C81-2181-4053-9C46-7B19A82C0B36}">
        <p14:transition dur="700"/>
      </p:ext>
    </p:extLst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top_rail"/>
          <p:cNvSpPr/>
          <p:nvPr/>
        </p:nvSpPr>
        <p:spPr>
          <a:xfrm>
            <a:off x="731520" y="411480"/>
            <a:ext cx="10728655" cy="27432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top_progress"/>
          <p:cNvSpPr/>
          <p:nvPr/>
        </p:nvSpPr>
        <p:spPr>
          <a:xfrm>
            <a:off x="731520" y="411480"/>
            <a:ext cx="9387573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sec_tag"/>
          <p:cNvSpPr txBox="1"/>
          <p:nvPr/>
        </p:nvSpPr>
        <p:spPr>
          <a:xfrm>
            <a:off x="731520" y="566928"/>
            <a:ext cx="548640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Courier New"/>
              </a:rPr>
              <a:t>07 // LIVE DEMONSTRATION</a:t>
            </a:r>
          </a:p>
        </p:txBody>
      </p:sp>
      <p:sp>
        <p:nvSpPr>
          <p:cNvPr id="5" name="!!sec_title"/>
          <p:cNvSpPr txBox="1"/>
          <p:nvPr/>
        </p:nvSpPr>
        <p:spPr>
          <a:xfrm>
            <a:off x="731520" y="841248"/>
            <a:ext cx="8686800" cy="5943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800" b="1">
                <a:solidFill>
                  <a:srgbClr val="FAFAFA"/>
                </a:solidFill>
                <a:latin typeface="Arial"/>
              </a:rPr>
              <a:t>Unified OTA Firmware Deployment 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89888"/>
            <a:ext cx="960120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300" b="0">
                <a:solidFill>
                  <a:srgbClr val="A1A1AA"/>
                </a:solidFill>
                <a:latin typeface="Arial"/>
              </a:rPr>
              <a:t>Drag and drop real .aqpk bundles in the live console — or flip 1 byte in RAM to trigger silicon rejection.</a:t>
            </a:r>
          </a:p>
        </p:txBody>
      </p:sp>
      <p:sp>
        <p:nvSpPr>
          <p:cNvPr id="7" name="!!brand_corner"/>
          <p:cNvSpPr txBox="1"/>
          <p:nvPr/>
        </p:nvSpPr>
        <p:spPr>
          <a:xfrm>
            <a:off x="9875520" y="566928"/>
            <a:ext cx="1584655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1000" b="0">
                <a:solidFill>
                  <a:srgbClr val="71717A"/>
                </a:solidFill>
                <a:latin typeface="Courier New"/>
              </a:rPr>
              <a:t>AutoQrpt · PQC-02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48840"/>
            <a:ext cx="10728655" cy="3291840"/>
          </a:xfrm>
          <a:prstGeom prst="roundRect">
            <a:avLst>
              <a:gd name="adj" fmla="val 4000"/>
            </a:avLst>
          </a:prstGeom>
          <a:solidFill>
            <a:srgbClr val="12121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468880"/>
            <a:ext cx="996696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200" b="1">
                <a:solidFill>
                  <a:srgbClr val="FAFAFA"/>
                </a:solidFill>
                <a:latin typeface="Arial"/>
              </a:rPr>
              <a:t>Live Hardware-in-the-Loop Verification Proof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63240"/>
            <a:ext cx="9966960" cy="2011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350" b="0">
                <a:solidFill>
                  <a:srgbClr val="A1A1AA"/>
                </a:solidFill>
                <a:latin typeface="Arial"/>
              </a:rPr>
              <a:t>1. Upload 01_genuine_oem_release_v2.0.aqpk -&gt; All 5 tree gates pass in 71.4 ms -&gt; ECU activates Slot ota_1 (SV 2).
2. Upload the exact same v2.0.0 file a second time -&gt; Gate 02 (NVS Monotonic Counter) blocks it immediately as a replay (SV 2 &lt;= 2).
3. Click 'Flip 1 Byte in RAM' on any valid bundle -&gt; Gates 01–04 pass, Gate 05 (Streaming SHA3-256) catches the 1-bit corruption and aborts partition swap.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15000"/>
            <a:ext cx="10728655" cy="7315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2000" b="1">
                <a:solidFill>
                  <a:srgbClr val="71717A"/>
                </a:solidFill>
                <a:latin typeface="Courier New"/>
              </a:rPr>
              <a:t>AUTOQRPT · QUANTUM-RESILIENT AUTOMOTIVE OTA</a:t>
            </a:r>
          </a:p>
        </p:txBody>
      </p:sp>
    </p:spTree>
  </p:cSld>
  <p:clrMapOvr>
    <a:masterClrMapping/>
  </p:clrMapOvr>
  <p:transition xmlns:p14="http://schemas.microsoft.com/office/powerpoint/2010/main" xmlns:p159="http://schemas.microsoft.com/office/powerpoint/2015/09/main" spd="med" advClick="1">
    <p:extLst>
      <p:ext uri="{D58B2C81-2181-4053-9C46-7B19A82C0B36}">
        <p14:transition dur="900"/>
      </p:ext>
      <p:ext uri="{39408819-310E-4349-B0A4-A211590E3C66}">
        <p159:morph option="byObject"/>
      </p:ext>
    </p:extLst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